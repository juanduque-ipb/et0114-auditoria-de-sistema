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389120"/>
            <a:ext cx="3108960" cy="310896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48640"/>
            <a:ext cx="2834640" cy="4572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E8A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Calibri"/>
              </a:rPr>
              <a:t>SESIÓN 3 · UNIDAD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Normas y </a:t>
            </a:r>
            <a:r>
              <a:rPr sz="4400" b="1" i="0">
                <a:solidFill>
                  <a:srgbClr val="E8A020"/>
                </a:solidFill>
                <a:latin typeface="Cambria"/>
              </a:rPr>
              <a:t>estándares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internacionales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AF5EE"/>
                </a:solidFill>
                <a:latin typeface="Calibri"/>
              </a:rPr>
              <a:t>COBIT, ISO 27001 e ITIL: los marcos frente a los que se mide una auditoría de sistemas.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2452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Sesión 3 · viernes 04 de septiembre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ANTES DE SEGUIR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¿Qué vimos y qué sigue?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07800"/>
                </a:solidFill>
                <a:latin typeface="Calibri"/>
              </a:rPr>
              <a:t>LA CLASE PASADA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350008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El auditor revisa, evalúa y recomienda — con independencia.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971800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90779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El perfil combina habilidades técnicas y habilidades blandas.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593592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529584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La actitud independiente y honesta es el pilar del rol.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215384"/>
            <a:ext cx="118872" cy="118872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5137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El auditor no depende jerárquicamente de lo que audita.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Calibri"/>
              </a:rPr>
              <a:t>HOY VEMOS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295144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2402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COBIT, ISO 27001 e ITIL — y un caso real de cada uno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843784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7889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Un mapa de referencias de segundo nivel (NIST, MITRE, OWASP...)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392424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375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Cómo se está regulando la auditoría de sistemas de IA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3941063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886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¿Cuál marco usar y cuándo?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489703"/>
            <a:ext cx="118872" cy="118872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4348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Taller: elegir el marco correcto para un caso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MOTIVACIÓN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¿Por qué no basta con el buen criterio?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Sin una norma común, cada auditor mediría con una vara distinta — y el resultado dejaría de ser comparable o creíble.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603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SIN NORMA DE REFERENCIA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2724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06324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Cada auditor decide qué es “suficiente”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694176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3016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Los hallazgos no son comparables entre auditorías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261104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97096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La organización no sabe frente a qué se le está midiendo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5257800" cy="283464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A6B3C"/>
                </a:solidFill>
                <a:latin typeface="Calibri"/>
              </a:rPr>
              <a:t>CON UN MARCO RECONOCIDO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3127248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3063240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Los controles esperados están documentados y son públicos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3694176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363016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Los hallazgos son verificables por un tercero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4261104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4197096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La organización puede certificarse frente al mundo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Tres marcos, tres propósitos distintos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E4525"/>
                </a:solidFill>
                <a:latin typeface="Cambria"/>
              </a:rPr>
              <a:t>COBIT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07800"/>
                </a:solidFill>
                <a:latin typeface="Calibri"/>
              </a:rPr>
              <a:t>Emitido por ISACA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1A6B3C"/>
                </a:solidFill>
                <a:latin typeface="Calibri"/>
              </a:rPr>
              <a:t>Gobierno y gestión de 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C6B62"/>
                </a:solidFill>
                <a:latin typeface="Calibri"/>
              </a:rPr>
              <a:t>Alinea la tecnología con los objetivos del negocio.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517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E4525"/>
                </a:solidFill>
                <a:latin typeface="Cambria"/>
              </a:rPr>
              <a:t>ISO/IEC 27001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0896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07800"/>
                </a:solidFill>
                <a:latin typeface="Calibri"/>
              </a:rPr>
              <a:t>Emitido por ISO / IEC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4747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2E8B57"/>
                </a:solidFill>
                <a:latin typeface="Calibri"/>
              </a:rPr>
              <a:t>Seguridad de la información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39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C6B62"/>
                </a:solidFill>
                <a:latin typeface="Calibri"/>
              </a:rPr>
              <a:t>Define cómo proteger la confidencialidad, integridad y disponibilidad de los datos.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55448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28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6517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0E4525"/>
                </a:solidFill>
                <a:latin typeface="Cambria"/>
              </a:rPr>
              <a:t>ITIL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07800"/>
                </a:solidFill>
                <a:latin typeface="Calibri"/>
              </a:rPr>
              <a:t>Emitido por AXELOS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7472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Gestión de servicios de 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977639"/>
            <a:ext cx="2880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C6B62"/>
                </a:solidFill>
                <a:latin typeface="Calibri"/>
              </a:rPr>
              <a:t>Organiza cómo se entregan y soportan los servicios tecnológicos.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MARCO 1 · COBIT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Gobierno y gestión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DCEFE2"/>
                </a:solidFill>
                <a:latin typeface="Calibri"/>
              </a:rPr>
              <a:t>Control Objectives for Information and Related Technologies. Responde a una pregunta de negocio: ¿la tecnología está entregando el valor que la organización espera?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Evaluar, Dirigir y Monitorear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Gobierno: la alta dirección define objetivos y supervisa el desempeño.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402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41448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Alinear, Planificar y Organizar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97180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Gestión: se planifica cómo la TI va a soportar la estrategia.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891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90288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Construir, Adquirir e Implementar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Gestión: se desarrollan o adquieren las soluciones tecnológicas.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3891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90288"/>
            <a:ext cx="4709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Entregar, Dar Servicio y Soporte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Gestión: operación diaria de los sistemas ya implementados.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CASO REAL · COBIT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Cómo un escándalo contable creó un estándar de 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892808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6B3C"/>
                </a:solidFill>
                <a:latin typeface="Cambria"/>
              </a:rPr>
              <a:t>2001–2002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50008"/>
            <a:ext cx="22037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6241C"/>
                </a:solidFill>
                <a:latin typeface="Calibri"/>
              </a:rPr>
              <a:t>Enron y WorldCom colapsan por fraude contable — y nadie lo detectó a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46888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0780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892808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6B3C"/>
                </a:solidFill>
                <a:latin typeface="Cambria"/>
              </a:rPr>
              <a:t>2002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350008"/>
            <a:ext cx="22037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6241C"/>
                </a:solidFill>
                <a:latin typeface="Calibri"/>
              </a:rPr>
              <a:t>EE. UU. aprueba la Ley Sarbanes-Oxley (SOX): las empresas deben certificar sus controles internos.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46888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078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916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892808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6B3C"/>
                </a:solidFill>
                <a:latin typeface="Cambria"/>
              </a:rPr>
              <a:t>SOX §404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350008"/>
            <a:ext cx="22037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6241C"/>
                </a:solidFill>
                <a:latin typeface="Calibri"/>
              </a:rPr>
              <a:t>Esos controles incluyen los sistemas de TI que producen los números financieros.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68880"/>
            <a:ext cx="137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B0780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69164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892808"/>
            <a:ext cx="2203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A6B3C"/>
                </a:solidFill>
                <a:latin typeface="Cambria"/>
              </a:rPr>
              <a:t>Hoy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350008"/>
            <a:ext cx="22037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6241C"/>
                </a:solidFill>
                <a:latin typeface="Calibri"/>
              </a:rPr>
              <a:t>COBIT es el marco más usado en el mundo para demostrar, ante un auditor, que esos controles de TI existen.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0"/>
            <a:ext cx="10881360" cy="150876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5196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E8A020"/>
                </a:solidFill>
                <a:latin typeface="Calibri"/>
              </a:rPr>
              <a:t>En la práctica: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un banco usa COBIT para probar que nadie sin autorización puede modificar el sistema que calcula los intereses de sus clientes, y que cada cambio queda registrado y aprobado por alguien distinto de quien lo programó.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MARCO 2 · ISO/IEC 27001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Sistema de gestión de seguridad de la información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Un SGSI no es un antivirus — es un sistema de gestión: políticas, roles, riesgos y controles que se revisan y mejoran de forma continua.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07800"/>
                </a:solidFill>
                <a:latin typeface="Calibri"/>
              </a:rPr>
              <a:t>EL CICLO PDCA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188720" cy="82296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Planificar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2468880"/>
            <a:ext cx="1188720" cy="82296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24688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Hacer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468880"/>
            <a:ext cx="1188720" cy="82296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Verificar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68880"/>
            <a:ext cx="1188720" cy="82296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4688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Actuar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5C6B62"/>
                </a:solidFill>
                <a:latin typeface="Calibri"/>
              </a:rPr>
              <a:t>Se planifica el SGSI, se implementa, se audita (interna o externamente) y se corrige — ciclo tras ciclo, sin fin.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057400"/>
            <a:ext cx="525780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07800"/>
                </a:solidFill>
                <a:latin typeface="Calibri"/>
              </a:rPr>
              <a:t>ALGUNOS DOMINIOS DEL ANEXO A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807208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7432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Control de acceso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264408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200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Criptografía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721608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657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Seguridad física y del entorno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178808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41148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Seguridad en las operaciones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636008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45720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Gestión de incidentes de seguridad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5093208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50292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16241C"/>
                </a:solidFill>
                <a:latin typeface="Calibri"/>
              </a:rPr>
              <a:t>Relación con proveedores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CASO REAL · ISO/IEC 27001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La certificación que abre (o cierra) contratos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Cada vez más bancos, aseguradoras y gobiernos exigen a sus proveedores tecnológicos estar certificados en ISO 27001 antes de firmar un contrato: es la forma más reconocida de decir “protegemos tus datos” sin que el cliente tenga que auditar por su cuenta a cada proveedor.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6B3C"/>
                </a:solidFill>
                <a:latin typeface="Cambria"/>
              </a:rPr>
              <a:t>96,709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6241C"/>
                </a:solidFill>
                <a:latin typeface="Calibri"/>
              </a:rPr>
              <a:t>certificados vigentes en el mundo (ISO Survey 2024)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560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6B3C"/>
                </a:solidFill>
                <a:latin typeface="Cambria"/>
              </a:rPr>
              <a:t>2.7x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00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6241C"/>
                </a:solidFill>
                <a:latin typeface="Calibri"/>
              </a:rPr>
              <a:t>más certificados que en 2019, cuando había 36,362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3774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56032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A6B3C"/>
                </a:solidFill>
                <a:latin typeface="Cambria"/>
              </a:rPr>
              <a:t>33,359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20040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6241C"/>
                </a:solidFill>
                <a:latin typeface="Calibri"/>
              </a:rPr>
              <a:t>certificados solo en China — el país líder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E8A020"/>
                </a:solidFill>
                <a:latin typeface="Calibri"/>
              </a:rPr>
              <a:t>En la práctica: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una fintech que procesa pagos con tarjeta debe documentar, en su Declaración de Aplicabilidad, qué controles del Anexo A aplicó, cuáles no y por qué — y un auditor externo verifica esa evidencia antes de emitir el certificado.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1">
                <a:solidFill>
                  <a:srgbClr val="5C6B62"/>
                </a:solidFill>
                <a:latin typeface="Calibri"/>
              </a:rPr>
              <a:t>Fuente: ISO Survey 2024, publicada en 2026 — DISC InfoSec / HEIC.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MARCO 3 · ITIL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Gestión de servicios de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ITIL no mira la tecnología por sí sola — mira el servicio que esa tecnología le presta al usuario final.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E4525"/>
                </a:solidFill>
                <a:latin typeface="Calibri"/>
              </a:rPr>
              <a:t>Gestión de incidentes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Restaurar el servicio lo antes posible cuando algo falla.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28600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8456" y="2514600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1546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E4525"/>
                </a:solidFill>
                <a:latin typeface="Calibri"/>
              </a:rPr>
              <a:t>Gestión de problemas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8404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Buscar la causa raíz para que el incidente no se repita.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28600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28232" y="2514600"/>
            <a:ext cx="457200" cy="457200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1546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E4525"/>
                </a:solidFill>
                <a:latin typeface="Calibri"/>
              </a:rPr>
              <a:t>Gestión de cambios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8404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Controlar que las modificaciones no generen nuevos riesgos.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408" y="2286000"/>
            <a:ext cx="256032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08008" y="2514600"/>
            <a:ext cx="457200" cy="4572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514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15468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E4525"/>
                </a:solidFill>
                <a:latin typeface="Calibri"/>
              </a:rPr>
              <a:t>Gestión de niveles de servicio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84048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Definir y medir qué calidad de servicio se promete.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CASO REAL · ITIL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Cuando un cambio sin control tumba medio mundo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92024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4128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 i="1">
                <a:solidFill>
                  <a:srgbClr val="FFFFFF"/>
                </a:solidFill>
                <a:latin typeface="Cambria"/>
              </a:rPr>
              <a:t>En julio de 2024, una actualización defectuosa de un proveedor de ciberseguridad (CrowdStrike) provocó fallas simultáneas en millones de computadores con Windows, dejando en tierra vuelos y afectando bancos e incluso hospitales en todo el mundo — uno de los apagones de TI más grandes de la historia.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A020"/>
                </a:solidFill>
                <a:latin typeface="Calibri"/>
              </a:rPr>
              <a:t>¿QUÉ FALLÓ, EN TÉRMINOS DE ITIL?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233672"/>
            <a:ext cx="128016" cy="128016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60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El cambio se desplegó a todos los clientes al mismo tiempo, no por fases.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764024"/>
            <a:ext cx="128016" cy="128016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690872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hubo una prueba adecuada en un ambiente controlado antes del despliegue global.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294376"/>
            <a:ext cx="128016" cy="128016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221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Faltó un plan de reversión rápido cuando el problema apareció.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PARA IR MÁS ALLÁ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El mapa no termina en tres normas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Referencias que un auditor de sistemas encuentra tarde o temprano — buenas para tu proyecto final.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02152" cy="1600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mbria"/>
              </a:rPr>
              <a:t>NIST CSF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044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Identificar, Proteger, Detectar, Responder, Recuperar — y Gobernar, la función que se añadió en 2024.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057400"/>
            <a:ext cx="3502152" cy="1600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24028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mbria"/>
              </a:rPr>
              <a:t>MITRE ATT&amp;CK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651760"/>
            <a:ext cx="3044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Catálogo real de tácticas y técnicas de atacantes; sirve para auditar qué tan preparado está un sistema.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2057400"/>
            <a:ext cx="3502152" cy="1600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2240280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mbria"/>
              </a:rPr>
              <a:t>OWASP Top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2651760"/>
            <a:ext cx="3044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Los 10 riesgos más críticos en aplicaciones web — referencia obligada al auditar software propio.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13632"/>
            <a:ext cx="3502152" cy="1600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96512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mbria"/>
              </a:rPr>
              <a:t>PCI-DSS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07992"/>
            <a:ext cx="3044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Seguridad específica para quien procesa pagos con tarjeta.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3913632"/>
            <a:ext cx="3502152" cy="1600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4096512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mbria"/>
              </a:rPr>
              <a:t>COSO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4507992"/>
            <a:ext cx="3044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Control interno a nivel organizacional — la base de muchas auditorías financieras, no solo de TI.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3913632"/>
            <a:ext cx="3502152" cy="160020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4096512"/>
            <a:ext cx="3044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E4525"/>
                </a:solidFill>
                <a:latin typeface="Cambria"/>
              </a:rPr>
              <a:t>Habeas data (Ley 1581)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4507992"/>
            <a:ext cx="30449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C6B62"/>
                </a:solidFill>
                <a:latin typeface="Calibri"/>
              </a:rPr>
              <a:t>Protección de datos personales en Colombia; equivalente local del GDPR europeo.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657600" cy="36576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Y AHORA, LA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Auditar sistemas de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DCEFE2"/>
                </a:solidFill>
                <a:latin typeface="Calibri"/>
              </a:rPr>
              <a:t>La IA ya no es solo una herramienta que se audita — está empezando a tener sus propias normas, porque sus riesgos (sesgo, opacidad, decisiones automatizadas) no los cubren bien las normas tradicionales.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502152" cy="310896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60320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8A020"/>
                </a:solidFill>
                <a:latin typeface="Calibri"/>
              </a:rPr>
              <a:t>ISO/IEC 42001 (2023)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00400"/>
            <a:ext cx="2990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Primer estándar internacional de sistema de gestión de IA. Sigue el mismo ciclo PDCA de ISO 27001, aplicado a ética, transparencia y supervisión humana.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331720"/>
            <a:ext cx="3502152" cy="310896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560320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8A020"/>
                </a:solidFill>
                <a:latin typeface="Calibri"/>
              </a:rPr>
              <a:t>NIST AI RMF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3200400"/>
            <a:ext cx="2990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Marco de EE. UU. (voluntario) para gestionar el riesgo de sistemas de IA en 4 funciones: Gobernar, Mapear, Medir y Gestionar.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331720"/>
            <a:ext cx="3502152" cy="310896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2560320"/>
            <a:ext cx="29900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E8A020"/>
                </a:solidFill>
                <a:latin typeface="Calibri"/>
              </a:rPr>
              <a:t>Ley de IA de la 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5" y="3200400"/>
            <a:ext cx="299008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Clasifica los sistemas de IA por nivel de riesgo. Los de “alto riesgo” (empleo, crédito, justicia) deberán demostrar controles — el plazo se movió de agosto 2026 a diciembre 2027, pero la transparencia sobre contenido generado por IA sigue vigente desde agosto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1">
                <a:solidFill>
                  <a:srgbClr val="E8A020"/>
                </a:solidFill>
                <a:latin typeface="Calibri"/>
              </a:rPr>
              <a:t>El auditor de sistemas del futuro también auditará algoritmos, no solo bases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¿Cuál marco usarías y cuándo?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6241C"/>
                </a:solidFill>
                <a:latin typeface="Calibri"/>
              </a:rPr>
              <a:t>¿La TI está alineada con la estrategia del negocio?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93391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993391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6241C"/>
                </a:solidFill>
                <a:latin typeface="Calibri"/>
              </a:rPr>
              <a:t>¿Los datos y la información están protegidos?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27832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22783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ISO/IEC 27001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69494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6241C"/>
                </a:solidFill>
                <a:latin typeface="Calibri"/>
              </a:rPr>
              <a:t>¿El servicio de TI se entrega con la calidad prometida?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462272"/>
            <a:ext cx="3108960" cy="54864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46227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C6B62"/>
                </a:solidFill>
                <a:latin typeface="Calibri"/>
              </a:rPr>
              <a:t>En la práctica casi nunca se usan solos — una auditoría madura los combina según lo que necesite evaluar.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07800"/>
                </a:solidFill>
                <a:latin typeface="Calibri"/>
              </a:rPr>
              <a:t>EN UNA AUDITORÍA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0E4525"/>
                </a:solidFill>
                <a:latin typeface="Cambria"/>
              </a:rPr>
              <a:t>¿Qué evidencia pedirías, por cada marco?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5C6B62"/>
                </a:solidFill>
                <a:latin typeface="Calibri"/>
              </a:rPr>
              <a:t>Si estuvieras auditando una empresa, esto es lo que le pedirías que te muestre — a modo de ejemplo, no una lista cerrada.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50215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3502152" cy="685800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04872"/>
            <a:ext cx="3502152" cy="338328"/>
          </a:xfrm>
          <a:prstGeom prst="rect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5021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COBIT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081527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Matriz de roles y responsabilidades (RACI) para decisiones de TI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3886200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22191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Actas del comité de TI donde se aprueban inversiones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690872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26864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Política de cambios firmada por la dirección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5495544"/>
            <a:ext cx="109728" cy="109728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431536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Reporte de indicadores (KPIs) de TI presentado a la gerencia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057400"/>
            <a:ext cx="350215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70832" y="2057400"/>
            <a:ext cx="3502152" cy="68580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404872"/>
            <a:ext cx="3502152" cy="3383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2057400"/>
            <a:ext cx="35021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ISO/IEC 27001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3081527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3017520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Análisis de riesgos de seguridad de la información</a:t>
            </a:r>
          </a:p>
        </p:txBody>
      </p:sp>
      <p:sp>
        <p:nvSpPr>
          <p:cNvPr id="24" name="Oval 23"/>
          <p:cNvSpPr/>
          <p:nvPr/>
        </p:nvSpPr>
        <p:spPr>
          <a:xfrm>
            <a:off x="4626864" y="3886200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822191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Declaración de Aplicabilidad (SoA) del Anexo A</a:t>
            </a:r>
          </a:p>
        </p:txBody>
      </p:sp>
      <p:sp>
        <p:nvSpPr>
          <p:cNvPr id="26" name="Oval 25"/>
          <p:cNvSpPr/>
          <p:nvPr/>
        </p:nvSpPr>
        <p:spPr>
          <a:xfrm>
            <a:off x="4626864" y="4690872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4626864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Política de control de acceso</a:t>
            </a:r>
          </a:p>
        </p:txBody>
      </p:sp>
      <p:sp>
        <p:nvSpPr>
          <p:cNvPr id="28" name="Oval 27"/>
          <p:cNvSpPr/>
          <p:nvPr/>
        </p:nvSpPr>
        <p:spPr>
          <a:xfrm>
            <a:off x="4626864" y="5495544"/>
            <a:ext cx="109728" cy="10972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5431536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Registro de incidentes de seguridad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2057400"/>
            <a:ext cx="350215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01583" y="2057400"/>
            <a:ext cx="3502152" cy="685800"/>
          </a:xfrm>
          <a:prstGeom prst="roundRect">
            <a:avLst>
              <a:gd name="adj" fmla="val 6000"/>
            </a:avLst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01583" y="2404872"/>
            <a:ext cx="3502152" cy="338328"/>
          </a:xfrm>
          <a:prstGeom prst="rect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3" y="2057400"/>
            <a:ext cx="35021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ITIL</a:t>
            </a:r>
          </a:p>
        </p:txBody>
      </p:sp>
      <p:sp>
        <p:nvSpPr>
          <p:cNvPr id="34" name="Oval 33"/>
          <p:cNvSpPr/>
          <p:nvPr/>
        </p:nvSpPr>
        <p:spPr>
          <a:xfrm>
            <a:off x="8357615" y="3081527"/>
            <a:ext cx="109728" cy="109728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3017520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Ticket de incidente con tiempos de respuesta</a:t>
            </a:r>
          </a:p>
        </p:txBody>
      </p:sp>
      <p:sp>
        <p:nvSpPr>
          <p:cNvPr id="36" name="Oval 35"/>
          <p:cNvSpPr/>
          <p:nvPr/>
        </p:nvSpPr>
        <p:spPr>
          <a:xfrm>
            <a:off x="8357615" y="3886200"/>
            <a:ext cx="109728" cy="109728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3822191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Registro de cambio con aprobación y plan de reversión</a:t>
            </a:r>
          </a:p>
        </p:txBody>
      </p:sp>
      <p:sp>
        <p:nvSpPr>
          <p:cNvPr id="38" name="Oval 37"/>
          <p:cNvSpPr/>
          <p:nvPr/>
        </p:nvSpPr>
        <p:spPr>
          <a:xfrm>
            <a:off x="8357615" y="4690872"/>
            <a:ext cx="109728" cy="109728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4626864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Acuerdo de nivel de servicio (SLA) firmado</a:t>
            </a:r>
          </a:p>
        </p:txBody>
      </p:sp>
      <p:sp>
        <p:nvSpPr>
          <p:cNvPr id="40" name="Oval 39"/>
          <p:cNvSpPr/>
          <p:nvPr/>
        </p:nvSpPr>
        <p:spPr>
          <a:xfrm>
            <a:off x="8357615" y="5495544"/>
            <a:ext cx="109728" cy="109728"/>
          </a:xfrm>
          <a:prstGeom prst="ellipse">
            <a:avLst/>
          </a:prstGeom>
          <a:solidFill>
            <a:srgbClr val="B07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5431536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6241C"/>
                </a:solidFill>
                <a:latin typeface="Calibri"/>
              </a:rPr>
              <a:t>Informe de disponibilidad del servicio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3657600" cy="3657600"/>
          </a:xfrm>
          <a:prstGeom prst="ellipse">
            <a:avLst/>
          </a:prstGeom>
          <a:solidFill>
            <a:srgbClr val="1A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ACTIVIDAD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Taller: elige el marco correcto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1" i="1">
                <a:solidFill>
                  <a:srgbClr val="FFFFFF"/>
                </a:solidFill>
                <a:latin typeface="Cambria"/>
              </a:rPr>
              <a:t>Una tienda en línea quiere empezar a aceptar pagos con tarjeta. Antes de lanzar, necesita mostrarle a su procesador de pagos que protege los datos de sus clientes — y también necesita que el equipo de soporte atienda bien las fallas del sitio en producción.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877056"/>
            <a:ext cx="146304" cy="14630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¿Qué marco(s) aplicarías primero, y en qué orden?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443984"/>
            <a:ext cx="146304" cy="14630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6168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¿Qué evidencia le pedirías al equipo de TI para cada uno?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5010912"/>
            <a:ext cx="146304" cy="146304"/>
          </a:xfrm>
          <a:prstGeom prst="ellipse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928616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¿Dónde entra COBIT en esta historia, si es que entra?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Auditoría de Sistemas · Sesión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FE0D4"/>
                </a:solidFill>
                <a:latin typeface="Calibri"/>
              </a:rPr>
              <a:t>ET0114 · Auditoría de Sistemas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A020"/>
                </a:solidFill>
                <a:latin typeface="Calibri"/>
              </a:rPr>
              <a:t>PARA LA PRÓXIMA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Nos vemos el 11 de septiembre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CEFE2"/>
                </a:solidFill>
                <a:latin typeface="Calibri"/>
              </a:rPr>
              <a:t>Sesión 4 · Unidad 1 — Fases de la auditoría: planeación, ejecución, informe y seguimiento.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145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A020"/>
                </a:solidFill>
                <a:latin typeface="Calibri"/>
              </a:rPr>
              <a:t>Antes de la próxima clase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632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Busca si tu caso de estudio del proyecto podría regirse por COBIT, ISO 27001 o ITIL.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• Trae resuelto el taller de hoy — lo retomamos brevemente.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8A020"/>
                </a:solidFill>
                <a:latin typeface="Cambria"/>
              </a:rPr>
              <a:t>¡Nos vemos la próxima semana!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FE0D4"/>
                </a:solidFill>
                <a:latin typeface="Calibri"/>
              </a:rPr>
              <a:t>Juan Duque · Auditoría de Sistemas · I.U. Pascual Bravo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