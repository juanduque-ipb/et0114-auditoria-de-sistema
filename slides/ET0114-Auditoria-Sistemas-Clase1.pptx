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48640"/>
            <a:ext cx="3246120" cy="4572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E8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Calibri"/>
              </a:rPr>
              <a:t>ET0114 · PLAN ACADÉMICO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Auditoría </a:t>
            </a:r>
            <a:r>
              <a:rPr sz="4600" b="1" i="0">
                <a:solidFill>
                  <a:srgbClr val="E8A020"/>
                </a:solidFill>
                <a:latin typeface="Cambria"/>
              </a:rPr>
              <a:t>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803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AF5EE"/>
                </a:solidFill>
                <a:latin typeface="Calibri"/>
              </a:rPr>
              <a:t>Tecnología en Desarrollo de Software · I.U. Pascual Bravo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Primera clase · viernes 21 de agosto de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074920"/>
            <a:ext cx="2331720" cy="8686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193792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8A02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513832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FE0D4"/>
                </a:solidFill>
                <a:latin typeface="Calibri"/>
              </a:rPr>
              <a:t>créditos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50749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5193792"/>
            <a:ext cx="2688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8A020"/>
                </a:solidFill>
                <a:latin typeface="Calibri"/>
              </a:rPr>
              <a:t>Viernes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5513832"/>
            <a:ext cx="2688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FE0D4"/>
                </a:solidFill>
                <a:latin typeface="Calibri"/>
              </a:rPr>
              <a:t>2h semanales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5074920"/>
            <a:ext cx="2331720" cy="8686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3" y="5193792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8A020"/>
                </a:solidFill>
                <a:latin typeface="Calibr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5513832"/>
            <a:ext cx="20025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FE0D4"/>
                </a:solidFill>
                <a:latin typeface="Calibri"/>
              </a:rPr>
              <a:t>sesiones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3104" y="50749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5193792"/>
            <a:ext cx="2688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E8A020"/>
                </a:solidFill>
                <a:latin typeface="Calibri"/>
              </a:rPr>
              <a:t>Juan Duque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5513832"/>
            <a:ext cx="26883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FE0D4"/>
                </a:solidFill>
                <a:latin typeface="Calibri"/>
              </a:rPr>
              <a:t>docente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BIENVENIDA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¿Qué hacemos en esta primera clase?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Bienvenidos al módulo. Hoy no vamos a auditar nada todavía — vamos a entender juntos </a:t>
            </a:r>
            <a:r>
              <a:rPr sz="1350" b="1" i="0">
                <a:solidFill>
                  <a:srgbClr val="5C6B62"/>
                </a:solidFill>
                <a:latin typeface="Calibri"/>
              </a:rPr>
              <a:t>de qué se trata este viaje</a:t>
            </a:r>
            <a:r>
              <a:rPr sz="1350" b="0" i="0">
                <a:solidFill>
                  <a:srgbClr val="5C6B62"/>
                </a:solidFill>
                <a:latin typeface="Calibri"/>
              </a:rPr>
              <a:t> y cómo vamos a trabajarlo semana a semana.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3055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4525"/>
                </a:solidFill>
                <a:latin typeface="Calibri"/>
              </a:rPr>
              <a:t>Por qué importa auditar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4144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Casos reales: bancos, filtraciones, la nube, el e-commerce.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0779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4525"/>
                </a:solidFill>
                <a:latin typeface="Calibri"/>
              </a:rPr>
              <a:t>Qué vamos a lograr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1868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Las competencias y el objeto de estudio del módulo.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8503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4525"/>
                </a:solidFill>
                <a:latin typeface="Calibri"/>
              </a:rPr>
              <a:t>Cómo vamos a trabajar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9592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Unidades, evaluación y calendario de las 16 sesiones.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480559"/>
            <a:ext cx="502920" cy="50292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6227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4525"/>
                </a:solidFill>
                <a:latin typeface="Calibri"/>
              </a:rPr>
              <a:t>El proyecto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El informe de auditoría que construirás paso a paso.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257799"/>
            <a:ext cx="502920" cy="50292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5779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3951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4525"/>
                </a:solidFill>
                <a:latin typeface="Calibri"/>
              </a:rPr>
              <a:t>Diagnóstico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504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Qué sabes ya sobre auditoría — sin calificar, solo para arrancar.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¿Para qué sirve esto en la vida real?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9656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E4525"/>
                </a:solidFill>
                <a:latin typeface="Calibri"/>
              </a:rPr>
              <a:t>Bancos y fintechs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Certificarse en PCI-DSS o ISO 27001 antes de procesar un solo pago con tarjeta.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57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19656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E4525"/>
                </a:solidFill>
                <a:latin typeface="Calibri"/>
              </a:rPr>
              <a:t>Filtraciones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68880"/>
            <a:ext cx="4800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Casos como Equifax: nadie auditó a tiempo un sistema con datos sensibles.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5257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97096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E4525"/>
                </a:solidFill>
                <a:latin typeface="Calibri"/>
              </a:rPr>
              <a:t>AWS · Azure · Google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800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Se someten a auditorías SOC 2 constantes para que confíes tus datos a su nube.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77639"/>
            <a:ext cx="52578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206240"/>
            <a:ext cx="457200" cy="4572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197096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E4525"/>
                </a:solidFill>
                <a:latin typeface="Calibri"/>
              </a:rPr>
              <a:t>Plataformas e-commerce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46320"/>
            <a:ext cx="48006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Calibri"/>
              </a:rPr>
              <a:t>Auditan código, accesos y datos personales antes de lanzar una función de pagos.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OBJETO DE ESTUDIO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Lo que vamos a lograr 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Al terminar el módulo podrás analizar los riesgos de un sistema de información y demostrar, con evidencia, si una organización cumple o no con los estándares esperados.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87168"/>
            <a:ext cx="457200" cy="457200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4190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E4525"/>
                </a:solidFill>
                <a:latin typeface="Calibri"/>
              </a:rPr>
              <a:t>Identificación de amenazas sobre los activos de información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64408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419856"/>
            <a:ext cx="457200" cy="457200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4190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64408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E4525"/>
                </a:solidFill>
                <a:latin typeface="Calibri"/>
              </a:rPr>
              <a:t>Gestión de riesgos informáticos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97096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352544"/>
            <a:ext cx="457200" cy="457200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525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4190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97096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E4525"/>
                </a:solidFill>
                <a:latin typeface="Calibri"/>
              </a:rPr>
              <a:t>Aplicación del proceso de auditoría de sistemas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9783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5285231"/>
            <a:ext cx="457200" cy="457200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85231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41900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129783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0E4525"/>
                </a:solidFill>
                <a:latin typeface="Calibri"/>
              </a:rPr>
              <a:t>Generación de informes de resultados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DATOS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Así está organizado el módulo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A020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FE0D4"/>
                </a:solidFill>
                <a:latin typeface="Calibri"/>
              </a:rPr>
              <a:t>créditos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562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A020"/>
                </a:solidFill>
                <a:latin typeface="Cambria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FE0D4"/>
                </a:solidFill>
                <a:latin typeface="Calibri"/>
              </a:rPr>
              <a:t>sesiones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002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562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A020"/>
                </a:solidFill>
                <a:latin typeface="Cambria"/>
              </a:rPr>
              <a:t>2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FE0D4"/>
                </a:solidFill>
                <a:latin typeface="Calibri"/>
              </a:rPr>
              <a:t>por sesión, viernes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290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A020"/>
                </a:solidFill>
                <a:latin typeface="Cambria"/>
              </a:rPr>
              <a:t>96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FE0D4"/>
                </a:solidFill>
                <a:latin typeface="Calibri"/>
              </a:rPr>
              <a:t>totales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290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6850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A020"/>
                </a:solidFill>
                <a:latin typeface="Cambria"/>
              </a:rPr>
              <a:t>32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891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FE0D4"/>
                </a:solidFill>
                <a:latin typeface="Calibri"/>
              </a:rPr>
              <a:t>acompañamiento docente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42900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6850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E8A020"/>
                </a:solidFill>
                <a:latin typeface="Cambria"/>
              </a:rPr>
              <a:t>64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891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FE0D4"/>
                </a:solidFill>
                <a:latin typeface="Calibri"/>
              </a:rPr>
              <a:t>trabajo autónomo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CONTENIDO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Dos unidades, un solo objetivo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105156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5257800" cy="548640"/>
          </a:xfrm>
          <a:prstGeom prst="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719072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4F2E8"/>
                </a:solidFill>
                <a:latin typeface="Calibri"/>
              </a:rPr>
              <a:t>UNIDAD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19072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Principios de la auditoría de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7889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B07800"/>
                </a:solidFill>
                <a:latin typeface="Calibri"/>
              </a:rPr>
              <a:t>SESIONES 1–8</a:t>
            </a:r>
          </a:p>
        </p:txBody>
      </p:sp>
      <p:sp>
        <p:nvSpPr>
          <p:cNvPr id="11" name="Oval 10"/>
          <p:cNvSpPr/>
          <p:nvPr/>
        </p:nvSpPr>
        <p:spPr>
          <a:xfrm>
            <a:off x="960119" y="3282696"/>
            <a:ext cx="128016" cy="128016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20040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Perfil y habilidades del auditor</a:t>
            </a:r>
          </a:p>
        </p:txBody>
      </p:sp>
      <p:sp>
        <p:nvSpPr>
          <p:cNvPr id="13" name="Oval 12"/>
          <p:cNvSpPr/>
          <p:nvPr/>
        </p:nvSpPr>
        <p:spPr>
          <a:xfrm>
            <a:off x="960119" y="3849624"/>
            <a:ext cx="128016" cy="128016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76732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Normas y estándares (COBIT, ISO 27001, ITIL)</a:t>
            </a:r>
          </a:p>
        </p:txBody>
      </p:sp>
      <p:sp>
        <p:nvSpPr>
          <p:cNvPr id="15" name="Oval 14"/>
          <p:cNvSpPr/>
          <p:nvPr/>
        </p:nvSpPr>
        <p:spPr>
          <a:xfrm>
            <a:off x="960119" y="4416552"/>
            <a:ext cx="128016" cy="128016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334256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Fases de la auditoría</a:t>
            </a:r>
          </a:p>
        </p:txBody>
      </p:sp>
      <p:sp>
        <p:nvSpPr>
          <p:cNvPr id="17" name="Oval 16"/>
          <p:cNvSpPr/>
          <p:nvPr/>
        </p:nvSpPr>
        <p:spPr>
          <a:xfrm>
            <a:off x="960119" y="4983480"/>
            <a:ext cx="128016" cy="128016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901184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Riesgos, controles, amenazas y vulnerabilidades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1554480"/>
            <a:ext cx="5257800" cy="105156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057400"/>
            <a:ext cx="525780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19072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4F2E8"/>
                </a:solidFill>
                <a:latin typeface="Calibri"/>
              </a:rPr>
              <a:t>UNIDAD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1719072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Ejecución y resultados de la auditoría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889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B07800"/>
                </a:solidFill>
                <a:latin typeface="Calibri"/>
              </a:rPr>
              <a:t>SESIONES 9–16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282696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Metodologías de auditoría (ISACA)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849624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76732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Plan de auditoría y pruebas de cumplimiento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4416552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334256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Evidencias y hallazgos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983480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901184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6241C"/>
                </a:solidFill>
                <a:latin typeface="Calibri"/>
              </a:rPr>
              <a:t>Informe de auditoría y sustentación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¿Cómo te evaluamos?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Sin memorización — evidencia. Cada entregable es algo que un auditor real produciría.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2900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6B3C"/>
                </a:solidFill>
                <a:latin typeface="Cambria"/>
              </a:rP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libri"/>
              </a:rPr>
              <a:t>Corte 1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59359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1" y="352043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Quiz conceptual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1" y="406907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Ensayo del perfil del auditor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69087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1" y="461771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Avance de matriz de riesgos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57799"/>
            <a:ext cx="2880360" cy="384048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57799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07800"/>
                </a:solidFill>
                <a:latin typeface="Calibri"/>
              </a:rPr>
              <a:t>⚠ Semana 5 · 18 sep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103120"/>
            <a:ext cx="342900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3317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6B3C"/>
                </a:solidFill>
                <a:latin typeface="Cambria"/>
              </a:rP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71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libri"/>
              </a:rPr>
              <a:t>Corte 2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359359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352043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Matriz de riesgos completa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414223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06907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Portafolio unidad 1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469087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461771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Quiz de metodologías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5257799"/>
            <a:ext cx="2880360" cy="384048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5257799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07800"/>
                </a:solidFill>
                <a:latin typeface="Calibri"/>
              </a:rPr>
              <a:t>⚠ Semana 10 · 23 oct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2103120"/>
            <a:ext cx="342900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3317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6B3C"/>
                </a:solidFill>
                <a:latin typeface="Cambria"/>
              </a:rP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971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libri"/>
              </a:rPr>
              <a:t>Corte 3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359359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352043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Plan y pruebas de auditoría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414223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7072" y="406907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Informe final de hallazgos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4690871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7072" y="461771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Sustentación en vivo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5257799"/>
            <a:ext cx="2880360" cy="384048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5257799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07800"/>
                </a:solidFill>
                <a:latin typeface="Calibri"/>
              </a:rPr>
              <a:t>⚠ Semana 16 · 04 dic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SEMANA 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Nuestra hoja de ruta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63240"/>
            <a:ext cx="10515600" cy="45720"/>
          </a:xfrm>
          <a:prstGeom prst="rect">
            <a:avLst/>
          </a:prstGeom>
          <a:solidFill>
            <a:srgbClr val="1E5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7" y="2958084"/>
            <a:ext cx="237744" cy="23774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45720" y="33832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Hoy · 21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5720" y="37216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Apertura del módulo</a:t>
            </a:r>
          </a:p>
        </p:txBody>
      </p:sp>
      <p:sp>
        <p:nvSpPr>
          <p:cNvPr id="9" name="Oval 8"/>
          <p:cNvSpPr/>
          <p:nvPr/>
        </p:nvSpPr>
        <p:spPr>
          <a:xfrm>
            <a:off x="4209288" y="2958084"/>
            <a:ext cx="237744" cy="23774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5160" y="33832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Sem. 5 · 18 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5160" y="37216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Corte 1 · 30%</a:t>
            </a:r>
          </a:p>
        </p:txBody>
      </p:sp>
      <p:sp>
        <p:nvSpPr>
          <p:cNvPr id="12" name="Oval 11"/>
          <p:cNvSpPr/>
          <p:nvPr/>
        </p:nvSpPr>
        <p:spPr>
          <a:xfrm>
            <a:off x="7440167" y="2958084"/>
            <a:ext cx="237744" cy="23774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39" y="33832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Sem. 10 · 23 oct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39" y="37216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Corte 2 · 30%</a:t>
            </a:r>
          </a:p>
        </p:txBody>
      </p:sp>
      <p:sp>
        <p:nvSpPr>
          <p:cNvPr id="15" name="Oval 14"/>
          <p:cNvSpPr/>
          <p:nvPr/>
        </p:nvSpPr>
        <p:spPr>
          <a:xfrm>
            <a:off x="10671047" y="2958084"/>
            <a:ext cx="237744" cy="23774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33832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Sem. 16 · 04 dic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19" y="37216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Corte 3 · 40% · cierre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FE0D4"/>
                </a:solidFill>
                <a:latin typeface="Calibri"/>
              </a:rPr>
              <a:t>16 sesiones · viernes · 2 horas. El 14 de agosto se canceló la clase — arrancamos hoy.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PROYECTO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Informe de auditoría de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No pedimos un sistema perfecto para auditar — pedimos un caso concreto y evidencia real de tus hallazgos.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384048" cy="38404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E4525"/>
                </a:solidFill>
                <a:latin typeface="Calibri"/>
              </a:rPr>
              <a:t>Caso de estudio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Una organización real o ficticia con sistemas claros: banco, tienda en línea, 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574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432" y="2258568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585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74320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E4525"/>
                </a:solidFill>
                <a:latin typeface="Calibri"/>
              </a:rPr>
              <a:t>Plan de auditoría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044952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Alcance, objetivos y normas de referencia — la fase de planeación.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0574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0183" y="2258568"/>
            <a:ext cx="384048" cy="384048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22585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74320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E4525"/>
                </a:solidFill>
                <a:latin typeface="Calibri"/>
              </a:rPr>
              <a:t>Matriz de riesgos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044952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Activos, amenazas, vulnerabilidades y controles, priorizados.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3950207"/>
            <a:ext cx="384048" cy="38404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5020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E4525"/>
                </a:solidFill>
                <a:latin typeface="Calibri"/>
              </a:rPr>
              <a:t>Pruebas de auditoría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36592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Evidencias recolectadas: checklists, entrevistas, revisión de configuraciones.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749039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99432" y="3950207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95020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43484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E4525"/>
                </a:solidFill>
                <a:latin typeface="Calibri"/>
              </a:rPr>
              <a:t>Informe final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736592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Hallazgos, no conformidades y recomendaciones, como para un gerente real.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3749039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30183" y="3950207"/>
            <a:ext cx="384048" cy="384048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395020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3" y="4434840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0E4525"/>
                </a:solidFill>
                <a:latin typeface="Calibri"/>
              </a:rPr>
              <a:t>Sustentación en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3" y="4736592"/>
            <a:ext cx="3044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10 minutos por grupo defendiendo cada hallazgo.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POLÍTICA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0E4525"/>
                </a:solidFill>
                <a:latin typeface="Cambria"/>
              </a:rPr>
              <a:t>La IA como copiloto, no como auditor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01368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6B3C"/>
                </a:solidFill>
                <a:latin typeface="Calibri"/>
              </a:rPr>
              <a:t>Uso permitido</a:t>
            </a:r>
          </a:p>
        </p:txBody>
      </p:sp>
      <p:sp>
        <p:nvSpPr>
          <p:cNvPr id="7" name="Oval 6"/>
          <p:cNvSpPr/>
          <p:nvPr/>
        </p:nvSpPr>
        <p:spPr>
          <a:xfrm>
            <a:off x="841247" y="2432304"/>
            <a:ext cx="91440" cy="9144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237744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Explicar una norma o fase de auditoría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3209544"/>
            <a:ext cx="91440" cy="9144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315468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Revisar tu matriz de riesgos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986783"/>
            <a:ext cx="91440" cy="9144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393192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Ayudar a redactar un hallazgo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4764023"/>
            <a:ext cx="91440" cy="9144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4709159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Declarar su uso en el README (suma puntos)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160020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2463" y="1801368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Uso no permitido</a:t>
            </a:r>
          </a:p>
        </p:txBody>
      </p:sp>
      <p:sp>
        <p:nvSpPr>
          <p:cNvPr id="17" name="Oval 16"/>
          <p:cNvSpPr/>
          <p:nvPr/>
        </p:nvSpPr>
        <p:spPr>
          <a:xfrm>
            <a:off x="3712463" y="243230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5344" y="237744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"Hazme el informe completo"</a:t>
            </a:r>
          </a:p>
        </p:txBody>
      </p:sp>
      <p:sp>
        <p:nvSpPr>
          <p:cNvPr id="19" name="Oval 18"/>
          <p:cNvSpPr/>
          <p:nvPr/>
        </p:nvSpPr>
        <p:spPr>
          <a:xfrm>
            <a:off x="3712463" y="3209544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315468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Entregar lo que no puedes explicar</a:t>
            </a:r>
          </a:p>
        </p:txBody>
      </p:sp>
      <p:sp>
        <p:nvSpPr>
          <p:cNvPr id="21" name="Oval 20"/>
          <p:cNvSpPr/>
          <p:nvPr/>
        </p:nvSpPr>
        <p:spPr>
          <a:xfrm>
            <a:off x="3712463" y="3986783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95344" y="393192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No saber por qué elegiste un control</a:t>
            </a:r>
          </a:p>
        </p:txBody>
      </p:sp>
      <p:sp>
        <p:nvSpPr>
          <p:cNvPr id="23" name="Oval 22"/>
          <p:cNvSpPr/>
          <p:nvPr/>
        </p:nvSpPr>
        <p:spPr>
          <a:xfrm>
            <a:off x="3712463" y="4764023"/>
            <a:ext cx="91440" cy="914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95344" y="4709159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Hallazgos idénticos entre grupos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160020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E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801368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E4BC7"/>
                </a:solidFill>
                <a:latin typeface="Calibri"/>
              </a:rPr>
              <a:t>Cómo se verifica</a:t>
            </a:r>
          </a:p>
        </p:txBody>
      </p:sp>
      <p:sp>
        <p:nvSpPr>
          <p:cNvPr id="27" name="Oval 26"/>
          <p:cNvSpPr/>
          <p:nvPr/>
        </p:nvSpPr>
        <p:spPr>
          <a:xfrm>
            <a:off x="6583679" y="2432304"/>
            <a:ext cx="91440" cy="91440"/>
          </a:xfrm>
          <a:prstGeom prst="ellipse">
            <a:avLst/>
          </a:prstGeom>
          <a:solidFill>
            <a:srgbClr val="5E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237744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Preguntas en la sustentación</a:t>
            </a:r>
          </a:p>
        </p:txBody>
      </p:sp>
      <p:sp>
        <p:nvSpPr>
          <p:cNvPr id="29" name="Oval 28"/>
          <p:cNvSpPr/>
          <p:nvPr/>
        </p:nvSpPr>
        <p:spPr>
          <a:xfrm>
            <a:off x="6583679" y="3209544"/>
            <a:ext cx="91440" cy="91440"/>
          </a:xfrm>
          <a:prstGeom prst="ellipse">
            <a:avLst/>
          </a:prstGeom>
          <a:solidFill>
            <a:srgbClr val="5E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315468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Ajustar un hallazgo en vivo</a:t>
            </a:r>
          </a:p>
        </p:txBody>
      </p:sp>
      <p:sp>
        <p:nvSpPr>
          <p:cNvPr id="31" name="Oval 30"/>
          <p:cNvSpPr/>
          <p:nvPr/>
        </p:nvSpPr>
        <p:spPr>
          <a:xfrm>
            <a:off x="6583679" y="3986783"/>
            <a:ext cx="91440" cy="91440"/>
          </a:xfrm>
          <a:prstGeom prst="ellipse">
            <a:avLst/>
          </a:prstGeom>
          <a:solidFill>
            <a:srgbClr val="5E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59" y="393192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Explicar señalando la evidencia</a:t>
            </a:r>
          </a:p>
        </p:txBody>
      </p:sp>
      <p:sp>
        <p:nvSpPr>
          <p:cNvPr id="33" name="Oval 32"/>
          <p:cNvSpPr/>
          <p:nvPr/>
        </p:nvSpPr>
        <p:spPr>
          <a:xfrm>
            <a:off x="6583679" y="4764023"/>
            <a:ext cx="91440" cy="91440"/>
          </a:xfrm>
          <a:prstGeom prst="ellipse">
            <a:avLst/>
          </a:prstGeom>
          <a:solidFill>
            <a:srgbClr val="5E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4709159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Nivel calibrado por grupo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53727" y="1600200"/>
            <a:ext cx="2651760" cy="3977639"/>
          </a:xfrm>
          <a:prstGeom prst="roundRect">
            <a:avLst>
              <a:gd name="adj" fmla="val 6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54895" y="1801368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B07800"/>
                </a:solidFill>
                <a:latin typeface="Calibri"/>
              </a:rPr>
              <a:t>La clave</a:t>
            </a:r>
          </a:p>
        </p:txBody>
      </p:sp>
      <p:sp>
        <p:nvSpPr>
          <p:cNvPr id="37" name="Oval 36"/>
          <p:cNvSpPr/>
          <p:nvPr/>
        </p:nvSpPr>
        <p:spPr>
          <a:xfrm>
            <a:off x="9454895" y="2432304"/>
            <a:ext cx="91440" cy="9144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7775" y="237744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La IA es tutor 24/7, no el auditor</a:t>
            </a:r>
          </a:p>
        </p:txBody>
      </p:sp>
      <p:sp>
        <p:nvSpPr>
          <p:cNvPr id="39" name="Oval 38"/>
          <p:cNvSpPr/>
          <p:nvPr/>
        </p:nvSpPr>
        <p:spPr>
          <a:xfrm>
            <a:off x="9454895" y="3209544"/>
            <a:ext cx="91440" cy="9144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7775" y="315468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Un hallazgo tuyo vale más que uno de la IA</a:t>
            </a:r>
          </a:p>
        </p:txBody>
      </p:sp>
      <p:sp>
        <p:nvSpPr>
          <p:cNvPr id="41" name="Oval 40"/>
          <p:cNvSpPr/>
          <p:nvPr/>
        </p:nvSpPr>
        <p:spPr>
          <a:xfrm>
            <a:off x="9454895" y="3986783"/>
            <a:ext cx="91440" cy="9144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37775" y="3931920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Deberás defenderlo ante un cliente</a:t>
            </a:r>
          </a:p>
        </p:txBody>
      </p:sp>
      <p:sp>
        <p:nvSpPr>
          <p:cNvPr id="43" name="Oval 42"/>
          <p:cNvSpPr/>
          <p:nvPr/>
        </p:nvSpPr>
        <p:spPr>
          <a:xfrm>
            <a:off x="9454895" y="4764023"/>
            <a:ext cx="91440" cy="9144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37775" y="4709159"/>
            <a:ext cx="206654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 i="0">
                <a:solidFill>
                  <a:srgbClr val="16241C"/>
                </a:solidFill>
                <a:latin typeface="Calibri"/>
              </a:rPr>
              <a:t>Transparencia se premia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657600" cy="36576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ACTIVIDAD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Antes de empezar: ¿qué sabes tú?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DCEFE2"/>
                </a:solidFill>
                <a:latin typeface="Calibri"/>
              </a:rPr>
              <a:t>En parejas o en grupos de tres, conversen 5 minutos sobre estas preguntas. No se califica — es para arrancar desde lo que ya traes.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1">
                <a:solidFill>
                  <a:srgbClr val="FFFFFF"/>
                </a:solidFill>
                <a:latin typeface="Cambria"/>
              </a:rPr>
              <a:t>¿Qué es “auditar” para ti, más allá de los sistemas?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118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1">
                <a:solidFill>
                  <a:srgbClr val="FFFFFF"/>
                </a:solidFill>
                <a:latin typeface="Cambria"/>
              </a:rPr>
              <a:t>¿Has estado cerca de una auditoría (laboral, familiar, académica)? ¿Cómo fue?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091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0916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1">
                <a:solidFill>
                  <a:srgbClr val="FFFFFF"/>
                </a:solidFill>
                <a:latin typeface="Cambria"/>
              </a:rPr>
              <a:t>¿Qué esperas poder hacer al terminar este módulo?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Primera clase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PARA LA PRÓXIMA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Nos vemos el 28 de agosto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CEFE2"/>
                </a:solidFill>
                <a:latin typeface="Calibri"/>
              </a:rPr>
              <a:t>Semana 2 · Unidad 1 — Perfil del auditor: habilidades y actitud independiente y honesta.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Antes de la próxima clase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Revisa el syllabus completo del curso en la página del módulo (GitHub Pages).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Piensa en una organización o app que te gustaría usar como caso de estudio del proyecto final.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8A020"/>
                </a:solidFill>
                <a:latin typeface="Cambria"/>
              </a:rPr>
              <a:t>¡Gracias por empezar este módulo con toda la actitud!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FE0D4"/>
                </a:solidFill>
                <a:latin typeface="Calibri"/>
              </a:rPr>
              <a:t>Juan Duque · Auditoría de Sistemas · I.U. Pascual Bravo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