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48640"/>
            <a:ext cx="2834640" cy="4572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E8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Calibri"/>
              </a:rPr>
              <a:t>SESIÓN 2 · UNIDAD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El perfil del </a:t>
            </a:r>
            <a:r>
              <a:rPr sz="4400" b="1" i="0">
                <a:solidFill>
                  <a:srgbClr val="E8A020"/>
                </a:solidFill>
                <a:latin typeface="Cambria"/>
              </a:rPr>
              <a:t>auditor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AF5EE"/>
                </a:solidFill>
                <a:latin typeface="Calibri"/>
              </a:rPr>
              <a:t>Habilidades, actitud independiente y honesta, y el lugar del auditor en la organización.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2452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Sesión 2 · viernes 28 de agosto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ANTES DE SEGUIR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¿Qué vimos y qué sigue?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07800"/>
                </a:solidFill>
                <a:latin typeface="Calibri"/>
              </a:rPr>
              <a:t>LA CLASE PASADA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350008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Auditar es demostrar con evidencia si un sistema cumple o no con la norma.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971800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0779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El módulo tiene 2 unidades: principios (1–8) y ejecución (9–16).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93592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29584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Evaluación en 3 cortes: 30% (sem. 5) · 30% (sem. 10) · 40% (sem. 16).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215384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5137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El proyecto final es un informe de auditoría sobre un caso real.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Calibri"/>
              </a:rPr>
              <a:t>HOY VEMOS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340864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2860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¿Qué hace un auditor de sistemas?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907792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8529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Habilidades técnicas y habilidades blandas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474720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41985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 actitud independiente y honesta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041648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98678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El rol del auditor dentro de la organización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608576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55371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Caso: un dilema ético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¿Qué hace, en el fondo, un auditor de sistemas?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No es el enemigo del área de TI — es quien confirma, con evidencia, si algo funciona como se supone que debe funcionar.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E4525"/>
                </a:solidFill>
                <a:latin typeface="Cambria"/>
              </a:rPr>
              <a:t>Revisa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Examina procesos, controles y configuraciones frente a una norma o estándar.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860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560320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E4525"/>
                </a:solidFill>
                <a:latin typeface="Cambria"/>
              </a:rPr>
              <a:t>Evalúa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Determina el riesgo real: ¿qué tan grave es lo que encontró y a quién afecta?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2860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2560320"/>
            <a:ext cx="548640" cy="54864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E4525"/>
                </a:solidFill>
                <a:latin typeface="Cambria"/>
              </a:rPr>
              <a:t>Recomienda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947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Propone controles concretos — no solo señala el problema, ayuda a resolverlo.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PERFIL DEL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Dos tipos de habilidades, un mismo perfil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77724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5257800" cy="393192"/>
          </a:xfrm>
          <a:prstGeom prst="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Habilidades técnicas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70047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06039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Conocer normas y estándares (COBIT, ISO 27001, ITIL)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47287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83279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Entender procesos y sistemas de información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24528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6052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Identificar riesgos, amenazas y vulnerabilidades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01768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37759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Diseñar y aplicar pruebas de cumplimiento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1554480"/>
            <a:ext cx="5257800" cy="7772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38528"/>
            <a:ext cx="5257800" cy="3931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554480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Habilidades blandas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2670047"/>
            <a:ext cx="118872" cy="11887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606039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Comunicar hallazgos con claridad, sin tecnicismos innecesarios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447287"/>
            <a:ext cx="118872" cy="11887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383279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Pensamiento crítico y escepticismo profesional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4224528"/>
            <a:ext cx="118872" cy="11887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16052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Atención al detalle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5001768"/>
            <a:ext cx="118872" cy="11887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937759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Manejar conversaciones difíciles con serenidad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114800"/>
            <a:ext cx="3657600" cy="3657600"/>
          </a:xfrm>
          <a:prstGeom prst="ellipse">
            <a:avLst/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EL PILAR DEL PERFIL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 actitud independiente y honesta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DCEFE2"/>
                </a:solidFill>
                <a:latin typeface="Calibri"/>
              </a:rPr>
              <a:t>Sin independencia no hay auditoría creíble. Un auditor que audita algo en lo que tiene interés propio deja de ser auditor — se vuelve juez y parte.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E8A020"/>
                </a:solidFill>
                <a:latin typeface="Calibri"/>
              </a:rPr>
              <a:t>Objetividad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Los hallazgos se basan en evidencia, no en opiniones ni en presiones externas.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E8A020"/>
                </a:solidFill>
                <a:latin typeface="Calibri"/>
              </a:rPr>
              <a:t>Independencia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3756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 auditar áreas o procesos en los que tienes un interés personal o jerárquico.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5146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E8A020"/>
                </a:solidFill>
                <a:latin typeface="Calibri"/>
              </a:rPr>
              <a:t>Integridad y confidencialidad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3756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Reportar lo que encuentras, incluso si incomoda, y proteger la información sensible.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UBICACIÓN ORGANIZACIONAL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¿Dónde queda el auditor en el organigrama?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4047" y="160020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24047" y="1600200"/>
            <a:ext cx="5943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Junta directiva / Alta gerencia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8367" y="2697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1">
                <a:solidFill>
                  <a:srgbClr val="B07800"/>
                </a:solidFill>
                <a:latin typeface="Calibri"/>
              </a:rPr>
              <a:t>↑  informa hallazgos y riesgos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4047" y="315468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4047" y="3154680"/>
            <a:ext cx="5943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E8A020"/>
                </a:solidFill>
                <a:latin typeface="Calibri"/>
              </a:rPr>
              <a:t>Auditor de sistemas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CFE0D4"/>
                </a:solidFill>
                <a:latin typeface="Calibri"/>
              </a:rPr>
              <a:t>independiente de lo que audita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8367" y="4251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1">
                <a:solidFill>
                  <a:srgbClr val="B07800"/>
                </a:solidFill>
                <a:latin typeface="Calibri"/>
              </a:rPr>
              <a:t>↓  revisa evidencia y controles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4047" y="4709160"/>
            <a:ext cx="5943600" cy="96012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4047" y="4709160"/>
            <a:ext cx="5943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Área de TI / procesos auditados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C6B62"/>
                </a:solidFill>
                <a:latin typeface="Calibri"/>
              </a:rPr>
              <a:t>Clave: el auditor no depende jerárquicamente del área que audita — por eso puede ser objetivo.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657600" cy="36576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ACTIVIDAD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Un dilema ético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20116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Cambria"/>
              </a:rPr>
              <a:t>Eres el auditor de sistemas de tu empresa. Tu mejor amigo lidera el área de TI que estás auditando. Encuentras una falla grave de seguridad y él te pide no reportarla todavía: “dame dos semanas y la arreglo, no hace falta ponerlo en el informe”.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68496"/>
            <a:ext cx="146304" cy="14630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¿Qué principio de la auditoría está en juego aquí?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535424"/>
            <a:ext cx="146304" cy="14630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531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¿Qué harías tú, manteniendo independencia y honestidad?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102352"/>
            <a:ext cx="146304" cy="14630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20056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¿Cambia algo si la falla afecta datos de usuarios reales?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PARA LA PRÓXIMA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Nos vemos el 4 de septiembre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CEFE2"/>
                </a:solidFill>
                <a:latin typeface="Calibri"/>
              </a:rPr>
              <a:t>Sesión 3 · Unidad 1 — Normas y estándares internacionales: COBIT, ISO 27001, ITIL.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Antes de la próxima clase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Piensa en un ejemplo real (o cercano) donde la falta de independencia haya afectado una revisión.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Sigue pensando en tu caso de estudio para el proyecto final.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8A020"/>
                </a:solidFill>
                <a:latin typeface="Cambria"/>
              </a:rPr>
              <a:t>¡Nos vemos la próxima semana!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FE0D4"/>
                </a:solidFill>
                <a:latin typeface="Calibri"/>
              </a:rPr>
              <a:t>Juan Duque · Auditoría de Sistemas · I.U. Pascual Bravo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